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6"/>
                </a:solidFill>
                <a:latin typeface="Calibri"/>
              </a:rPr>
              <a:t>00.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Predicting Professional
CS2 Match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1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6"/>
                </a:solidFill>
                <a:latin typeface="Calibri"/>
              </a:rPr>
              <a:t>A Comparative Study of Logistic Regression, Random Forest, and Gradient Boosting.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041648"/>
            <a:ext cx="11183112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245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8E6"/>
                </a:solidFill>
                <a:latin typeface="Calibri"/>
              </a:rPr>
              <a:t>Seisenbek Dias   ·   Mergen Temirzhan   ·   Onashov Aidos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81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6"/>
                </a:solidFill>
                <a:latin typeface="Calibri"/>
              </a:rPr>
              <a:t>Mining signal from noise in 7,033 elite competitive matches.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285232"/>
            <a:ext cx="3657600" cy="102412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285232"/>
            <a:ext cx="36576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13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Seisenbek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704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6"/>
                </a:solidFill>
                <a:latin typeface="Calibri"/>
              </a:rPr>
              <a:t>Problem  ·  Data  ·  Variables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5285232"/>
            <a:ext cx="3657600" cy="102412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5285232"/>
            <a:ext cx="36576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5413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Mergen Temirzhan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58704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6"/>
                </a:solidFill>
                <a:latin typeface="Calibri"/>
              </a:rPr>
              <a:t>Models  ·  Setup  · 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5285232"/>
            <a:ext cx="3657600" cy="102412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5285232"/>
            <a:ext cx="36576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5413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Onashov Aidos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58704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6"/>
                </a:solidFill>
                <a:latin typeface="Calibri"/>
              </a:rPr>
              <a:t>Insights  ·  Discussion  ·  Conclusion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6"/>
                </a:solidFill>
                <a:latin typeface="Calibri"/>
              </a:rPr>
              <a:t>01.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Top-tier teams look
identical on paper.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657600"/>
            <a:ext cx="11183112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58768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6"/>
                </a:solidFill>
                <a:latin typeface="Calibri"/>
              </a:rPr>
              <a:t>At the highest levels of Counter-Strike 2, aggregate statistics lose their discriminatory power.
Predicting a winner before the match starts is a problem of stochastic variation, not just historical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Calibri"/>
              </a:rPr>
              <a:t>Seisenbek Dias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87876"/>
                </a:solidFill>
                <a:latin typeface="Calibri"/>
              </a:rPr>
              <a:t>02. THE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3657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181818"/>
                </a:solidFill>
                <a:latin typeface="Calibri"/>
              </a:rPr>
              <a:t>7,033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33472"/>
            <a:ext cx="3474720" cy="411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87876"/>
                </a:solidFill>
                <a:latin typeface="Calibri"/>
              </a:rPr>
              <a:t>Professional
Matches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5696" y="804672"/>
            <a:ext cx="3657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181818"/>
                </a:solidFill>
                <a:latin typeface="Calibri"/>
              </a:rPr>
              <a:t>648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5696" y="2633472"/>
            <a:ext cx="3474720" cy="411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2816352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87876"/>
                </a:solidFill>
                <a:latin typeface="Calibri"/>
              </a:rPr>
              <a:t>Global
Tournaments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804672"/>
            <a:ext cx="3657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181818"/>
                </a:solidFill>
                <a:latin typeface="Calibri"/>
              </a:rPr>
              <a:t>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02752" y="2633472"/>
            <a:ext cx="3474720" cy="411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816352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87876"/>
                </a:solidFill>
                <a:latin typeface="Calibri"/>
              </a:rPr>
              <a:t>Months of Data
(May 2024 – Oct 2025)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31920"/>
            <a:ext cx="11183112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6"/>
                </a:solidFill>
                <a:latin typeface="Calibri"/>
              </a:rPr>
              <a:t>Post-Transition Architecture: Most prior studies rely on CS:GO data. The 2023 engine transition and the HLTV 2.0 rating system effectively reset the field.
This study processes only native CS2 data from the current competitive landscape.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276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6"/>
                </a:solidFill>
                <a:latin typeface="Calibri"/>
              </a:rPr>
              <a:t>Seisenbek Dias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87876"/>
                </a:solidFill>
                <a:latin typeface="Calibri"/>
              </a:rPr>
              <a:t>03. THE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530352" cy="10789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0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X1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87782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81818"/>
                </a:solidFill>
                <a:latin typeface="Calibri"/>
              </a:rPr>
              <a:t>Mean HLTV 2.0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353312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6"/>
                </a:solidFill>
                <a:latin typeface="Calibri"/>
              </a:rPr>
              <a:t>The team's average aggregate performance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83664"/>
            <a:ext cx="5806440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66543"/>
            <a:ext cx="530352" cy="10789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3"/>
            <a:ext cx="530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13969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81818"/>
                </a:solidFill>
                <a:latin typeface="Calibri"/>
              </a:rPr>
              <a:t>Mean Kills Per 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61518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6"/>
                </a:solidFill>
                <a:latin typeface="Calibri"/>
              </a:rPr>
              <a:t>The aggregate historical combat lethality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45535"/>
            <a:ext cx="5806440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28415"/>
            <a:ext cx="530352" cy="10789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02735"/>
            <a:ext cx="530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X3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40156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81818"/>
                </a:solidFill>
                <a:latin typeface="Calibri"/>
              </a:rPr>
              <a:t>Head-to-Head Win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877055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6"/>
                </a:solidFill>
                <a:latin typeface="Calibri"/>
              </a:rPr>
              <a:t>Specific historical matchup dominance between the two teams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07407"/>
            <a:ext cx="5806440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90288"/>
            <a:ext cx="530352" cy="10789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64607"/>
            <a:ext cx="530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X4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66344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81818"/>
                </a:solidFill>
                <a:latin typeface="Calibri"/>
              </a:rPr>
              <a:t>Map-Specific 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138927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6"/>
                </a:solidFill>
                <a:latin typeface="Calibri"/>
              </a:rPr>
              <a:t>The team's historical success rate on the decided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3504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6"/>
                </a:solidFill>
                <a:latin typeface="Calibri"/>
              </a:rPr>
              <a:t>* Pearson correlations: all feature-target |r| &lt; 0.15  —  weak individual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27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6"/>
                </a:solidFill>
                <a:latin typeface="Calibri"/>
              </a:rPr>
              <a:t>Seisenbek Dias</a:t>
            </a:r>
          </a:p>
        </p:txBody>
      </p:sp>
      <p:pic>
        <p:nvPicPr>
          <p:cNvPr id="26" name="Picture 25" descr="jfig6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713232"/>
            <a:ext cx="521208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87876"/>
                </a:solidFill>
                <a:latin typeface="Calibri"/>
              </a:rPr>
              <a:t>04. THE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3657600" cy="5413248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04672"/>
            <a:ext cx="3657600" cy="502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5097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1818"/>
                </a:solidFill>
                <a:latin typeface="Calibri"/>
              </a:rPr>
              <a:t>Logistic
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76"/>
                </a:solidFill>
                <a:latin typeface="Calibri"/>
              </a:rPr>
              <a:t>Linear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67712"/>
            <a:ext cx="3291840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95728"/>
            <a:ext cx="3291840" cy="960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87168"/>
            <a:ext cx="32552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P(Y=1|X) = 1 / (1 + e^(-b0 - b1X1 - b2X2 - b3X3 - b4X4))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47288"/>
            <a:ext cx="3291840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8444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76"/>
                </a:solidFill>
                <a:latin typeface="Calibri"/>
              </a:rPr>
              <a:t>Maximum likelihood with L2 regularisation.
Evaluates standardised log-odds per standard deviation.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804672"/>
            <a:ext cx="3657600" cy="5413248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804672"/>
            <a:ext cx="3657600" cy="502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95097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1818"/>
                </a:solidFill>
                <a:latin typeface="Calibri"/>
              </a:rPr>
              <a:t>Random
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1874519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76"/>
                </a:solidFill>
                <a:latin typeface="Calibri"/>
              </a:rPr>
              <a:t>Bagging Ensemble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8576" y="2267712"/>
            <a:ext cx="3291840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08576" y="2395728"/>
            <a:ext cx="3291840" cy="960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2487168"/>
            <a:ext cx="32552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P(Y=1|X) = (1 / 200)  x  SUM [Pb(Y=1|X)]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3447288"/>
            <a:ext cx="3291840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358444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76"/>
                </a:solidFill>
                <a:latin typeface="Calibri"/>
              </a:rPr>
              <a:t>200 decision trees aggregating predictions by majority vote.  Robust to overfitting.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02752" y="804672"/>
            <a:ext cx="3657600" cy="5413248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804672"/>
            <a:ext cx="3657600" cy="502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95097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1818"/>
                </a:solidFill>
                <a:latin typeface="Calibri"/>
              </a:rPr>
              <a:t>Gradient
Boosting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1874519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76"/>
                </a:solidFill>
                <a:latin typeface="Calibri"/>
              </a:rPr>
              <a:t>Additive Ensemble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85632" y="2267712"/>
            <a:ext cx="3291840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85632" y="2395728"/>
            <a:ext cx="3291840" cy="960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2487168"/>
            <a:ext cx="32552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Fm(x) = Fm-1(x)  +  n * hm(x)    [n = 0.05,  M = 200]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85632" y="3447288"/>
            <a:ext cx="3291840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358444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876"/>
                </a:solidFill>
                <a:latin typeface="Calibri"/>
              </a:rPr>
              <a:t>Sequential shallow trees fitting pseudo-residuals.
Prioritises hold-out accuracy.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276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6"/>
                </a:solidFill>
                <a:latin typeface="Calibri"/>
              </a:rPr>
              <a:t>Mergen Temirzhan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87876"/>
                </a:solidFill>
                <a:latin typeface="Calibri"/>
              </a:rPr>
              <a:t>05. THE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3657600" cy="5074920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932688"/>
            <a:ext cx="32552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81818"/>
                </a:solidFill>
                <a:latin typeface="Calibri"/>
              </a:rPr>
              <a:t>Logistic
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901952"/>
            <a:ext cx="3255264" cy="16459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8"/>
            <a:ext cx="3255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81818"/>
                </a:solidFill>
                <a:latin typeface="Calibri"/>
              </a:rPr>
              <a:t>56.1%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56432"/>
            <a:ext cx="3255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6"/>
                </a:solidFill>
                <a:latin typeface="Calibri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913632"/>
            <a:ext cx="3255264" cy="16459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114800"/>
            <a:ext cx="3255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81818"/>
                </a:solidFill>
                <a:latin typeface="Calibri"/>
              </a:rPr>
              <a:t>F1: 0.484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26280"/>
            <a:ext cx="3255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787876"/>
                </a:solidFill>
                <a:latin typeface="Calibri"/>
              </a:rPr>
              <a:t>AUC: 0.574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804672"/>
            <a:ext cx="3657600" cy="50749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932688"/>
            <a:ext cx="32552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Random
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6864" y="1901952"/>
            <a:ext cx="3255264" cy="16459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2029968"/>
            <a:ext cx="3255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57.2%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3456432"/>
            <a:ext cx="3255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6"/>
                </a:solidFill>
                <a:latin typeface="Calibri"/>
              </a:rPr>
              <a:t>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913632"/>
            <a:ext cx="3255264" cy="16459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4114800"/>
            <a:ext cx="3255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F1: 0.536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4526280"/>
            <a:ext cx="3255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88886"/>
                </a:solidFill>
                <a:latin typeface="Calibri"/>
              </a:rPr>
              <a:t>AUC: 0.571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02752" y="804672"/>
            <a:ext cx="3657600" cy="5074920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932688"/>
            <a:ext cx="32552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81818"/>
                </a:solidFill>
                <a:latin typeface="Calibri"/>
              </a:rPr>
              <a:t>Gradient
Boosting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901952"/>
            <a:ext cx="3255264" cy="16459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029968"/>
            <a:ext cx="3255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81818"/>
                </a:solidFill>
                <a:latin typeface="Calibri"/>
              </a:rPr>
              <a:t>56.4%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56432"/>
            <a:ext cx="3255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6"/>
                </a:solidFill>
                <a:latin typeface="Calibri"/>
              </a:rPr>
              <a:t>Accuracy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913632"/>
            <a:ext cx="3255264" cy="16459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114800"/>
            <a:ext cx="3255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81818"/>
                </a:solidFill>
                <a:latin typeface="Calibri"/>
              </a:rPr>
              <a:t>F1: 0.528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526280"/>
            <a:ext cx="3255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787876"/>
                </a:solidFill>
                <a:latin typeface="Calibri"/>
              </a:rPr>
              <a:t>AUC: 0.573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98464"/>
            <a:ext cx="1109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7876"/>
                </a:solidFill>
                <a:latin typeface="Calibri"/>
              </a:rPr>
              <a:t>Paired t-tests (5-fold CV) confirm: differences between classifiers are not statistically significant (p &gt; 0.05)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276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6"/>
                </a:solidFill>
                <a:latin typeface="Calibri"/>
              </a:rPr>
              <a:t>Mergen Temirzhan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6"/>
                </a:solidFill>
                <a:latin typeface="Calibri"/>
              </a:rPr>
              <a:t>06. THE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Bound of
Stochastic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29968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6"/>
                </a:solidFill>
                <a:latin typeface="Calibri"/>
              </a:rPr>
              <a:t>A naïve baseline — simply predicting the majority class (always predict 'Win') — yields an automatic 54.6% accuracy.
Applying a 200-tree Random Forest model lifts that accuracy by just 2.6%.
The models are not failing; they have reached the limits of pre-match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658368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0" b="1" i="0">
                <a:solidFill>
                  <a:srgbClr val="FFFFFF"/>
                </a:solidFill>
                <a:latin typeface="Calibri"/>
              </a:rPr>
              <a:t>57.2%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697480"/>
            <a:ext cx="5394960" cy="3840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8529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6"/>
                </a:solidFill>
                <a:latin typeface="Calibri"/>
              </a:rPr>
              <a:t>Random Forest Maximum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7033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0" b="1" i="0">
                <a:solidFill>
                  <a:srgbClr val="888886"/>
                </a:solidFill>
                <a:latin typeface="Calibri"/>
              </a:rPr>
              <a:t>54.6%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5559552"/>
            <a:ext cx="5394960" cy="3840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7424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6"/>
                </a:solidFill>
                <a:latin typeface="Calibri"/>
              </a:rPr>
              <a:t>Naïve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276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Calibri"/>
              </a:rPr>
              <a:t>Mergen Temirzhan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87876"/>
                </a:solidFill>
                <a:latin typeface="Calibri"/>
              </a:rPr>
              <a:t>07. CONFUSION MATRICES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fig1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1064240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08192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7876"/>
                </a:solidFill>
                <a:latin typeface="Calibri"/>
              </a:rPr>
              <a:t>All models over-predict Win — false positive rate is the dominant error, as expected from weak feature-target correlations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276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6"/>
                </a:solidFill>
                <a:latin typeface="Calibri"/>
              </a:rPr>
              <a:t>Mergen Temirzhan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6"/>
                </a:solidFill>
                <a:latin typeface="Calibri"/>
              </a:rPr>
              <a:t>08. THE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20202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Map Win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6"/>
                </a:solidFill>
                <a:latin typeface="Calibri"/>
              </a:rPr>
              <a:t>Importance: 0.403 (RF)  ·  0.399 (GB)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90672"/>
            <a:ext cx="3566160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18688"/>
            <a:ext cx="35661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6"/>
                </a:solidFill>
                <a:latin typeface="Calibri"/>
              </a:rPr>
              <a:t>The dominant predictor. At the elite tier, being pulled into an unfamiliar structural environment — a weak map — creates a measurable, objective disadvantage that raw skill cannot overcome.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804672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20202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21031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Head-to-Head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267004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6"/>
                </a:solidFill>
                <a:latin typeface="Calibri"/>
              </a:rPr>
              <a:t>Importance: 0.269 (RF)  ·  0.292 (GB)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3090672"/>
            <a:ext cx="3566160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3218688"/>
            <a:ext cx="35661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6"/>
                </a:solidFill>
                <a:latin typeface="Calibri"/>
              </a:rPr>
              <a:t>The secondary signal. Stylistic matchups and historical dominance persist over time, creating psychological and tactical friction between opponents.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804672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20202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Aggregate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67004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6"/>
                </a:solidFill>
                <a:latin typeface="Calibri"/>
              </a:rPr>
              <a:t>Importance: 0.191 HLTV  ·  0.138 KPR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3090672"/>
            <a:ext cx="3566160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3218688"/>
            <a:ext cx="35661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6"/>
                </a:solidFill>
                <a:latin typeface="Calibri"/>
              </a:rPr>
              <a:t>The weakest signal. When both teams are elite, historical combat lethality and overall ratings cancel each other 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276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Calibri"/>
              </a:rPr>
              <a:t>Onashov Aidos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87876"/>
                </a:solidFill>
                <a:latin typeface="Calibri"/>
              </a:rPr>
              <a:t>09. FEATURE IMPORTANCE — BOTH ENSEMBLE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fig3_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1064240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08192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7876"/>
                </a:solidFill>
                <a:latin typeface="Calibri"/>
              </a:rPr>
              <a:t>Map Win Rate ranks first in both RF and GB with ~40% importance. KPR is consistently the weakest contributor.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276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876"/>
                </a:solidFill>
                <a:latin typeface="Calibri"/>
              </a:rPr>
              <a:t>Onashov Aidos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6"/>
                </a:solidFill>
                <a:latin typeface="Calibri"/>
              </a:rPr>
              <a:t>10. THE FEATURE CEILING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74359" y="777240"/>
            <a:ext cx="40233" cy="525780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Pre-Match Horizon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3035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7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E6"/>
                </a:solidFill>
                <a:latin typeface="Calibri"/>
              </a:rPr>
              <a:t>Historical Aggregates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67712"/>
            <a:ext cx="53035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E6"/>
                </a:solidFill>
                <a:latin typeface="Calibri"/>
              </a:rPr>
              <a:t>Temporal Noise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80944"/>
            <a:ext cx="53035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09067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E6"/>
                </a:solidFill>
                <a:latin typeface="Calibri"/>
              </a:rPr>
              <a:t>Map Veto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4176"/>
            <a:ext cx="53035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0390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E6"/>
                </a:solidFill>
                <a:latin typeface="Calibri"/>
              </a:rPr>
              <a:t>Roster Shifts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5303520" cy="65836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9379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Max Accuracy:  ~56%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84124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In-Game Reality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0528" y="1554480"/>
            <a:ext cx="53035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1664207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E6"/>
                </a:solidFill>
                <a:latin typeface="Calibri"/>
              </a:rPr>
              <a:t>Real-Time Economy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2267712"/>
            <a:ext cx="53035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237744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E6"/>
                </a:solidFill>
                <a:latin typeface="Calibri"/>
              </a:rPr>
              <a:t>Alive-Player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980944"/>
            <a:ext cx="53035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309067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E6"/>
                </a:solidFill>
                <a:latin typeface="Calibri"/>
              </a:rPr>
              <a:t>Round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10528" y="3694176"/>
            <a:ext cx="53035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696" y="380390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E6"/>
                </a:solidFill>
                <a:latin typeface="Calibri"/>
              </a:rPr>
              <a:t>Clutch Variance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0528" y="5120640"/>
            <a:ext cx="5303520" cy="65836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519379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Max Accuracy:  80%+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276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Calibri"/>
              </a:rPr>
              <a:t>Onashov Aidos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6"/>
                </a:solidFill>
                <a:latin typeface="Calibri"/>
              </a:rPr>
              <a:t>11.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algorithms do not lack capacity.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888886"/>
                </a:solidFill>
                <a:latin typeface="Calibri"/>
              </a:rPr>
              <a:t>The data lacks certainty.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97480"/>
            <a:ext cx="11183112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6"/>
                </a:solidFill>
                <a:latin typeface="Calibri"/>
              </a:rPr>
              <a:t>At the highest tier of competition, pre-match outcomes are bound by a structural ceiling of stochastic variance.
To break the 56% barrier, we must look past aggregate history and measure the game in motion.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33087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6"/>
                </a:solidFill>
                <a:latin typeface="Calibri"/>
              </a:rPr>
              <a:t>H3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6"/>
                </a:solidFill>
                <a:latin typeface="Calibri"/>
              </a:rPr>
              <a:t>confirmed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133087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Map Win Rate is the dominant predictor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171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6"/>
                </a:solidFill>
                <a:latin typeface="Calibri"/>
              </a:rPr>
              <a:t>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1713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6"/>
                </a:solidFill>
                <a:latin typeface="Calibri"/>
              </a:rPr>
              <a:t>partial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51713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H2H Win Rate is the secondary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01183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6"/>
                </a:solidFill>
                <a:latin typeface="Calibri"/>
              </a:rPr>
              <a:t>H1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01183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6"/>
                </a:solidFill>
                <a:latin typeface="Calibri"/>
              </a:rPr>
              <a:t>weakly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901183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HLTV Rating / KPR — least discriminating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76672"/>
            <a:ext cx="11183112" cy="109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541264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6"/>
                </a:solidFill>
                <a:latin typeface="Calibri"/>
              </a:rPr>
              <a:t>github.com/aloneen/cs2-match-outcome-prediction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