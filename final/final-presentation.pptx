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Poppins Semi-Bold" charset="1" panose="00000700000000000000"/>
      <p:regular r:id="rId19"/>
    </p:embeddedFont>
    <p:embeddedFont>
      <p:font typeface="Poppins" charset="1" panose="00000500000000000000"/>
      <p:regular r:id="rId20"/>
    </p:embeddedFont>
    <p:embeddedFont>
      <p:font typeface="Poppins Bold" charset="1" panose="0000080000000000000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584382"/>
            <a:ext cx="16230600" cy="2118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40"/>
              </a:lnSpc>
            </a:pPr>
            <a:r>
              <a:rPr lang="en-US" b="true" sz="8600" spc="-868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</a:t>
            </a:r>
            <a:r>
              <a:rPr lang="en-US" b="true" sz="8600" spc="-868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edicting Professional CS2 Match Outcomes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2723452" y="904875"/>
            <a:ext cx="5338757" cy="28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160"/>
              </a:lnSpc>
            </a:pPr>
            <a:r>
              <a:rPr lang="en-US" sz="180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NARXOZ</a:t>
            </a:r>
            <a:r>
              <a:rPr lang="en-US" sz="1800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UNIVERSITY - RESEARCH METHODS 2026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23176" y="9541812"/>
            <a:ext cx="6125419" cy="257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919"/>
              </a:lnSpc>
            </a:pPr>
            <a:r>
              <a:rPr lang="en-US" sz="15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Authors: Seisenbek Dias, Mergen Temirzhan, Onashov Aidos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2270008" y="7974950"/>
            <a:ext cx="5792201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49"/>
              </a:lnSpc>
            </a:pPr>
            <a:r>
              <a:rPr lang="en-US" sz="2499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A Comparativ</a:t>
            </a:r>
            <a:r>
              <a:rPr lang="en-US" sz="2499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e Study of Logistic</a:t>
            </a:r>
          </a:p>
          <a:p>
            <a:pPr algn="l">
              <a:lnSpc>
                <a:spcPts val="2249"/>
              </a:lnSpc>
            </a:pPr>
            <a:r>
              <a:rPr lang="en-US" sz="2499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Regression, Random Forest, and</a:t>
            </a:r>
          </a:p>
          <a:p>
            <a:pPr algn="l">
              <a:lnSpc>
                <a:spcPts val="2249"/>
              </a:lnSpc>
            </a:pPr>
            <a:r>
              <a:rPr lang="en-US" sz="2499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Gradient Boosting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  <a:p>
            <a:pPr algn="l">
              <a:lnSpc>
                <a:spcPts val="2249"/>
              </a:lnSpc>
            </a:pPr>
          </a:p>
          <a:p>
            <a:pPr algn="l" marL="0" indent="0" lvl="0">
              <a:lnSpc>
                <a:spcPts val="224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Mining signal from noise in 7,033 elite competitive matches.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3452611"/>
            <a:ext cx="13000177" cy="33246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725"/>
              </a:lnSpc>
            </a:pPr>
            <a:r>
              <a:rPr lang="en-US" sz="10970" spc="-800" b="true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</a:t>
            </a:r>
            <a:r>
              <a:rPr lang="en-US" b="true" sz="10970" spc="-800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op-tier teams look</a:t>
            </a:r>
          </a:p>
          <a:p>
            <a:pPr algn="l" marL="0" indent="0" lvl="0">
              <a:lnSpc>
                <a:spcPts val="12725"/>
              </a:lnSpc>
              <a:spcBef>
                <a:spcPct val="0"/>
              </a:spcBef>
            </a:pPr>
            <a:r>
              <a:rPr lang="en-US" b="true" sz="10970" spc="-800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identical on paper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. THE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PROBLEM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 HYPOTHESES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71824" y="4896567"/>
            <a:ext cx="4844301" cy="19761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540"/>
              </a:lnSpc>
              <a:spcBef>
                <a:spcPct val="0"/>
              </a:spcBef>
            </a:pP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H1: Skill Predicts</a:t>
            </a: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Wins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71824" y="3274695"/>
            <a:ext cx="4409029" cy="366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  <a:r>
              <a:rPr lang="en-US" sz="12000" spc="-552">
                <a:solidFill>
                  <a:srgbClr val="191919">
                    <a:alpha val="34902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171824" y="7055446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"TEA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MS WITH HIGHER HLTV RATING</a:t>
            </a:r>
          </a:p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 AND KPR ARE MORE LIKELY TO WIN.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551889" y="4896567"/>
            <a:ext cx="5327346" cy="292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540"/>
              </a:lnSpc>
              <a:spcBef>
                <a:spcPct val="0"/>
              </a:spcBef>
            </a:pP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 H2: History Pre</a:t>
            </a: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dicts Rematches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21849" y="3274695"/>
            <a:ext cx="4409029" cy="366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  <a:r>
              <a:rPr lang="en-US" sz="12000" spc="-552">
                <a:solidFill>
                  <a:srgbClr val="191919">
                    <a:alpha val="34902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6551889" y="8015687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"TEA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MS WITH A STRONGER HEAD-TO-HEAD</a:t>
            </a:r>
          </a:p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 RECORD ARE MORE LIKELY TO WIN AGAIN.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414999" y="4896567"/>
            <a:ext cx="5327346" cy="292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540"/>
              </a:lnSpc>
              <a:spcBef>
                <a:spcPct val="0"/>
              </a:spcBef>
            </a:pP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H3: Map M</a:t>
            </a: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astery Decides Maps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414999" y="3211277"/>
            <a:ext cx="4409029" cy="366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  <a:r>
              <a:rPr lang="en-US" sz="12000" spc="-624">
                <a:solidFill>
                  <a:srgbClr val="191919">
                    <a:alpha val="34902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2414999" y="8015687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"TEA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MS WITH A HIGHER WIN RATE ON</a:t>
            </a:r>
          </a:p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 THE SPECIFIC MAP PLAYED WILL WIN IT.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7218" y="5368290"/>
            <a:ext cx="4562212" cy="1184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5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P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rofessional</a:t>
            </a:r>
          </a:p>
          <a:p>
            <a:pPr algn="l">
              <a:lnSpc>
                <a:spcPts val="2975"/>
              </a:lnSpc>
            </a:pP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Matches</a:t>
            </a:r>
          </a:p>
          <a:p>
            <a:pPr algn="l">
              <a:lnSpc>
                <a:spcPts val="2975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2373275" y="3639820"/>
            <a:ext cx="920578" cy="133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859"/>
              </a:lnSpc>
              <a:spcBef>
                <a:spcPct val="0"/>
              </a:spcBef>
            </a:pPr>
            <a:r>
              <a:rPr lang="en-US" b="true" sz="8499" spc="-858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18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17218" y="3834164"/>
            <a:ext cx="2447650" cy="133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860"/>
              </a:lnSpc>
              <a:spcBef>
                <a:spcPct val="0"/>
              </a:spcBef>
            </a:pPr>
            <a:r>
              <a:rPr lang="en-US" b="true" sz="8500" spc="-858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7,033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862894" y="3789732"/>
            <a:ext cx="2200721" cy="1338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859"/>
              </a:lnSpc>
              <a:spcBef>
                <a:spcPct val="0"/>
              </a:spcBef>
            </a:pPr>
            <a:r>
              <a:rPr lang="en-US" b="true" sz="8499" spc="-858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648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62894" y="5323857"/>
            <a:ext cx="4562212" cy="1184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5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Gl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obal Tournaments</a:t>
            </a:r>
          </a:p>
          <a:p>
            <a:pPr algn="l">
              <a:lnSpc>
                <a:spcPts val="2975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2373275" y="5175936"/>
            <a:ext cx="5682148" cy="1316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M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onths of Data</a:t>
            </a:r>
          </a:p>
          <a:p>
            <a:pPr algn="l">
              <a:lnSpc>
                <a:spcPts val="3360"/>
              </a:lnSpc>
            </a:pP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(May 2024 – Oct 2025)</a:t>
            </a:r>
          </a:p>
          <a:p>
            <a:pPr algn="l">
              <a:lnSpc>
                <a:spcPts val="3360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EVIDENCE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648938" y="1492612"/>
            <a:ext cx="6400544" cy="6344540"/>
          </a:xfrm>
          <a:custGeom>
            <a:avLst/>
            <a:gdLst/>
            <a:ahLst/>
            <a:cxnLst/>
            <a:rect r="r" b="b" t="t" l="l"/>
            <a:pathLst>
              <a:path h="6344540" w="6400544">
                <a:moveTo>
                  <a:pt x="0" y="0"/>
                </a:moveTo>
                <a:lnTo>
                  <a:pt x="6400544" y="0"/>
                </a:lnTo>
                <a:lnTo>
                  <a:pt x="6400544" y="6344539"/>
                </a:lnTo>
                <a:lnTo>
                  <a:pt x="0" y="6344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VARIABLES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536929" y="2182031"/>
            <a:ext cx="648415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5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M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ean HLTV 2.0 Rating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36929" y="3566332"/>
            <a:ext cx="648415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5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M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ean Kills Per Round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536929" y="4950632"/>
            <a:ext cx="648415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5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Head-to-H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ead Win Rate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36929" y="6334932"/>
            <a:ext cx="6484152" cy="441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5"/>
              </a:lnSpc>
            </a:pPr>
            <a:r>
              <a:rPr lang="en-US" sz="3500" spc="101" b="true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Map-Sp</a:t>
            </a:r>
            <a:r>
              <a:rPr lang="en-US" b="true" sz="3500" spc="101">
                <a:solidFill>
                  <a:srgbClr val="191919"/>
                </a:solidFill>
                <a:latin typeface="Poppins Bold"/>
                <a:ea typeface="Poppins Bold"/>
                <a:cs typeface="Poppins Bold"/>
                <a:sym typeface="Poppins Bold"/>
              </a:rPr>
              <a:t>ecific Win Rate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36929" y="2823382"/>
            <a:ext cx="487740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 team's ave</a:t>
            </a: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rage agg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regate performance score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536929" y="4207682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 </a:t>
            </a: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agg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regate historical combat lethality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36929" y="5591982"/>
            <a:ext cx="577193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Specific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historical matchup dominance between the two teams</a:t>
            </a:r>
          </a:p>
          <a:p>
            <a:pPr algn="l" marL="0" indent="0" lvl="0">
              <a:lnSpc>
                <a:spcPts val="1679"/>
              </a:lnSpc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536929" y="6976282"/>
            <a:ext cx="5771935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 team's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historical success rate on the decided map</a:t>
            </a:r>
          </a:p>
          <a:p>
            <a:pPr algn="l" marL="0" indent="0" lvl="0">
              <a:lnSpc>
                <a:spcPts val="1679"/>
              </a:lnSpc>
            </a:pPr>
          </a:p>
          <a:p>
            <a:pPr algn="l" marL="0" indent="0" lvl="0">
              <a:lnSpc>
                <a:spcPts val="1679"/>
              </a:lnSpc>
            </a:pPr>
          </a:p>
        </p:txBody>
      </p:sp>
      <p:sp>
        <p:nvSpPr>
          <p:cNvPr name="AutoShape 12" id="12"/>
          <p:cNvSpPr/>
          <p:nvPr/>
        </p:nvSpPr>
        <p:spPr>
          <a:xfrm>
            <a:off x="1528841" y="3242482"/>
            <a:ext cx="5257824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3" id="13"/>
          <p:cNvSpPr/>
          <p:nvPr/>
        </p:nvSpPr>
        <p:spPr>
          <a:xfrm>
            <a:off x="1528841" y="4664882"/>
            <a:ext cx="5257824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4" id="14"/>
          <p:cNvSpPr/>
          <p:nvPr/>
        </p:nvSpPr>
        <p:spPr>
          <a:xfrm>
            <a:off x="1528841" y="6030132"/>
            <a:ext cx="5257824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5" id="15"/>
          <p:cNvSpPr/>
          <p:nvPr/>
        </p:nvSpPr>
        <p:spPr>
          <a:xfrm>
            <a:off x="1528841" y="7544203"/>
            <a:ext cx="5257824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3994715"/>
            <a:ext cx="8077214" cy="863089"/>
          </a:xfrm>
          <a:custGeom>
            <a:avLst/>
            <a:gdLst/>
            <a:ahLst/>
            <a:cxnLst/>
            <a:rect r="r" b="b" t="t" l="l"/>
            <a:pathLst>
              <a:path h="863089" w="8077214">
                <a:moveTo>
                  <a:pt x="0" y="0"/>
                </a:moveTo>
                <a:lnTo>
                  <a:pt x="8077214" y="0"/>
                </a:lnTo>
                <a:lnTo>
                  <a:pt x="8077214" y="863089"/>
                </a:lnTo>
                <a:lnTo>
                  <a:pt x="0" y="86308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28700" y="7604814"/>
            <a:ext cx="8077214" cy="1781001"/>
          </a:xfrm>
          <a:custGeom>
            <a:avLst/>
            <a:gdLst/>
            <a:ahLst/>
            <a:cxnLst/>
            <a:rect r="r" b="b" t="t" l="l"/>
            <a:pathLst>
              <a:path h="1781001" w="8077214">
                <a:moveTo>
                  <a:pt x="0" y="0"/>
                </a:moveTo>
                <a:lnTo>
                  <a:pt x="8077214" y="0"/>
                </a:lnTo>
                <a:lnTo>
                  <a:pt x="8077214" y="1781001"/>
                </a:lnTo>
                <a:lnTo>
                  <a:pt x="0" y="178100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0054804" y="4857804"/>
            <a:ext cx="6562068" cy="1017375"/>
          </a:xfrm>
          <a:custGeom>
            <a:avLst/>
            <a:gdLst/>
            <a:ahLst/>
            <a:cxnLst/>
            <a:rect r="r" b="b" t="t" l="l"/>
            <a:pathLst>
              <a:path h="1017375" w="6562068">
                <a:moveTo>
                  <a:pt x="0" y="0"/>
                </a:moveTo>
                <a:lnTo>
                  <a:pt x="6562068" y="0"/>
                </a:lnTo>
                <a:lnTo>
                  <a:pt x="6562068" y="1017375"/>
                </a:lnTo>
                <a:lnTo>
                  <a:pt x="0" y="1017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MODELS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28700" y="1962125"/>
            <a:ext cx="8115300" cy="2023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220"/>
              </a:lnSpc>
            </a:pP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Log</a:t>
            </a: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istic </a:t>
            </a:r>
          </a:p>
          <a:p>
            <a:pPr algn="just">
              <a:lnSpc>
                <a:spcPts val="5220"/>
              </a:lnSpc>
            </a:pP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Regression</a:t>
            </a:r>
          </a:p>
          <a:p>
            <a:pPr algn="just" marL="0" indent="0" lvl="0">
              <a:lnSpc>
                <a:spcPts val="522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5581704"/>
            <a:ext cx="8115300" cy="2023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220"/>
              </a:lnSpc>
            </a:pP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Random</a:t>
            </a:r>
          </a:p>
          <a:p>
            <a:pPr algn="just">
              <a:lnSpc>
                <a:spcPts val="5220"/>
              </a:lnSpc>
            </a:pP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Forest</a:t>
            </a:r>
          </a:p>
          <a:p>
            <a:pPr algn="just" marL="0" indent="0" lvl="0">
              <a:lnSpc>
                <a:spcPts val="5220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10054804" y="3178681"/>
            <a:ext cx="8115300" cy="1365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220"/>
              </a:lnSpc>
            </a:pP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Gradient </a:t>
            </a:r>
          </a:p>
          <a:p>
            <a:pPr algn="just" marL="0" indent="0" lvl="0">
              <a:lnSpc>
                <a:spcPts val="5220"/>
              </a:lnSpc>
              <a:spcBef>
                <a:spcPct val="0"/>
              </a:spcBef>
            </a:pP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Bo</a:t>
            </a:r>
            <a:r>
              <a:rPr lang="en-US" b="true" sz="4500" spc="-454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osting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23875" y="3547015"/>
            <a:ext cx="17259300" cy="3192970"/>
          </a:xfrm>
          <a:custGeom>
            <a:avLst/>
            <a:gdLst/>
            <a:ahLst/>
            <a:cxnLst/>
            <a:rect r="r" b="b" t="t" l="l"/>
            <a:pathLst>
              <a:path h="3192970" w="17259300">
                <a:moveTo>
                  <a:pt x="0" y="0"/>
                </a:moveTo>
                <a:lnTo>
                  <a:pt x="17259300" y="0"/>
                </a:lnTo>
                <a:lnTo>
                  <a:pt x="17259300" y="3192970"/>
                </a:lnTo>
                <a:lnTo>
                  <a:pt x="0" y="31929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VERDICT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87317" y="1744075"/>
            <a:ext cx="14313366" cy="6798849"/>
          </a:xfrm>
          <a:custGeom>
            <a:avLst/>
            <a:gdLst/>
            <a:ahLst/>
            <a:cxnLst/>
            <a:rect r="r" b="b" t="t" l="l"/>
            <a:pathLst>
              <a:path h="6798849" w="14313366">
                <a:moveTo>
                  <a:pt x="0" y="0"/>
                </a:moveTo>
                <a:lnTo>
                  <a:pt x="14313366" y="0"/>
                </a:lnTo>
                <a:lnTo>
                  <a:pt x="14313366" y="6798850"/>
                </a:lnTo>
                <a:lnTo>
                  <a:pt x="0" y="6798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CONFUSION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MATRICES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THE SIGNAL</a:t>
            </a:r>
          </a:p>
          <a:p>
            <a:pPr algn="l" marL="0" indent="0" lvl="0">
              <a:lnSpc>
                <a:spcPts val="1679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171824" y="4896567"/>
            <a:ext cx="4844301" cy="1023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7540"/>
              </a:lnSpc>
              <a:spcBef>
                <a:spcPct val="0"/>
              </a:spcBef>
            </a:pP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M</a:t>
            </a: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ap Win Rate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71824" y="3274695"/>
            <a:ext cx="4409029" cy="366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  <a:r>
              <a:rPr lang="en-US" sz="12000" spc="-552">
                <a:solidFill>
                  <a:srgbClr val="191919">
                    <a:alpha val="34902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01</a:t>
            </a:r>
          </a:p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1279167" y="6176795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IMPORTANCE: 0.403 (RF) 0.399 (GB)</a:t>
            </a:r>
          </a:p>
          <a:p>
            <a:pPr algn="l" marL="0" indent="0" lvl="0">
              <a:lnSpc>
                <a:spcPts val="167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6551889" y="4896567"/>
            <a:ext cx="5327346" cy="1023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7540"/>
              </a:lnSpc>
              <a:spcBef>
                <a:spcPct val="0"/>
              </a:spcBef>
            </a:pP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He</a:t>
            </a: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ad-to-Head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721849" y="3274695"/>
            <a:ext cx="4409029" cy="366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  <a:r>
              <a:rPr lang="en-US" sz="12000" spc="-552">
                <a:solidFill>
                  <a:srgbClr val="191919">
                    <a:alpha val="34902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02</a:t>
            </a:r>
          </a:p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6551889" y="6176795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IMPORTANCE: 0.269 (RF) 0.292 (GB)</a:t>
            </a:r>
          </a:p>
          <a:p>
            <a:pPr algn="l" marL="0" indent="0" lvl="0">
              <a:lnSpc>
                <a:spcPts val="1679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2414999" y="4896567"/>
            <a:ext cx="5327346" cy="1023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7540"/>
              </a:lnSpc>
              <a:spcBef>
                <a:spcPct val="0"/>
              </a:spcBef>
            </a:pP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Aggreg</a:t>
            </a:r>
            <a:r>
              <a:rPr lang="en-US" b="true" sz="6500" spc="-65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ate Skill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2414999" y="3211277"/>
            <a:ext cx="4409029" cy="3661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  <a:r>
              <a:rPr lang="en-US" sz="12000" spc="-624">
                <a:solidFill>
                  <a:srgbClr val="191919">
                    <a:alpha val="34902"/>
                  </a:srgbClr>
                </a:solidFill>
                <a:latin typeface="Poppins"/>
                <a:ea typeface="Poppins"/>
                <a:cs typeface="Poppins"/>
                <a:sym typeface="Poppins"/>
              </a:rPr>
              <a:t>03</a:t>
            </a:r>
          </a:p>
          <a:p>
            <a:pPr algn="l" marL="0" indent="0" lvl="0">
              <a:lnSpc>
                <a:spcPts val="13919"/>
              </a:lnSpc>
              <a:spcBef>
                <a:spcPct val="0"/>
              </a:spcBef>
            </a:pPr>
          </a:p>
        </p:txBody>
      </p:sp>
      <p:sp>
        <p:nvSpPr>
          <p:cNvPr name="TextBox 11" id="11"/>
          <p:cNvSpPr txBox="true"/>
          <p:nvPr/>
        </p:nvSpPr>
        <p:spPr>
          <a:xfrm rot="0">
            <a:off x="12522342" y="6176795"/>
            <a:ext cx="3750305" cy="438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IMPORTANCE: 0.191 HLTV ·0.138 KPR</a:t>
            </a:r>
          </a:p>
          <a:p>
            <a:pPr algn="l" marL="0" indent="0" lvl="0">
              <a:lnSpc>
                <a:spcPts val="1679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87317" y="1744075"/>
            <a:ext cx="14313366" cy="6798849"/>
          </a:xfrm>
          <a:custGeom>
            <a:avLst/>
            <a:gdLst/>
            <a:ahLst/>
            <a:cxnLst/>
            <a:rect r="r" b="b" t="t" l="l"/>
            <a:pathLst>
              <a:path h="6798849" w="14313366">
                <a:moveTo>
                  <a:pt x="0" y="0"/>
                </a:moveTo>
                <a:lnTo>
                  <a:pt x="14313366" y="0"/>
                </a:lnTo>
                <a:lnTo>
                  <a:pt x="14313366" y="6798850"/>
                </a:lnTo>
                <a:lnTo>
                  <a:pt x="0" y="67988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1009650"/>
            <a:ext cx="4269130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FEATURE IMPORTANCE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— BOTH ENSEMBLE MODELS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LIMITATIONS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479703" y="1375552"/>
            <a:ext cx="4089001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39"/>
              </a:lnSpc>
              <a:spcBef>
                <a:spcPct val="0"/>
              </a:spcBef>
            </a:pPr>
            <a:r>
              <a:rPr lang="en-US" b="true" sz="3999" spc="-403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Pre-Match Horizon</a:t>
            </a:r>
          </a:p>
        </p:txBody>
      </p:sp>
      <p:sp>
        <p:nvSpPr>
          <p:cNvPr name="AutoShape 4" id="4"/>
          <p:cNvSpPr/>
          <p:nvPr/>
        </p:nvSpPr>
        <p:spPr>
          <a:xfrm flipH="true">
            <a:off x="9144000" y="1238250"/>
            <a:ext cx="0" cy="781050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5" id="5"/>
          <p:cNvSpPr txBox="true"/>
          <p:nvPr/>
        </p:nvSpPr>
        <p:spPr>
          <a:xfrm rot="0">
            <a:off x="10715625" y="1375552"/>
            <a:ext cx="4089001" cy="629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39"/>
              </a:lnSpc>
              <a:spcBef>
                <a:spcPct val="0"/>
              </a:spcBef>
            </a:pPr>
            <a:r>
              <a:rPr lang="en-US" b="true" sz="3999" spc="-403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In</a:t>
            </a:r>
            <a:r>
              <a:rPr lang="en-US" b="true" sz="3999" spc="-403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-Game Reality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2903852" y="2578879"/>
            <a:ext cx="5370694" cy="814002"/>
            <a:chOff x="0" y="0"/>
            <a:chExt cx="1414504" cy="21438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3857171" y="2781093"/>
            <a:ext cx="3464056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Histo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rical Agg</a:t>
            </a:r>
            <a:r>
              <a:rPr lang="en-US" sz="24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regates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903852" y="3697368"/>
            <a:ext cx="5370694" cy="814002"/>
            <a:chOff x="0" y="0"/>
            <a:chExt cx="1414504" cy="214387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4295489" y="3899738"/>
            <a:ext cx="258742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Tempo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ral Noi</a:t>
            </a:r>
            <a:r>
              <a:rPr lang="en-US" sz="24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se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2903852" y="4816170"/>
            <a:ext cx="5370694" cy="814002"/>
            <a:chOff x="0" y="0"/>
            <a:chExt cx="1414504" cy="21438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4723185" y="5033958"/>
            <a:ext cx="1732028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ap V</a:t>
            </a:r>
            <a:r>
              <a:rPr lang="en-US" sz="24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eto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2903852" y="5966122"/>
            <a:ext cx="5370694" cy="814002"/>
            <a:chOff x="0" y="0"/>
            <a:chExt cx="1414504" cy="214387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4590683" y="6168335"/>
            <a:ext cx="1997033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Roste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 Shif</a:t>
            </a:r>
            <a:r>
              <a:rPr lang="en-US" sz="24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ts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010775" y="2578879"/>
            <a:ext cx="5370694" cy="814002"/>
            <a:chOff x="0" y="0"/>
            <a:chExt cx="1414504" cy="214387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1028097" y="2781093"/>
            <a:ext cx="3464056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Re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al-Time Economy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0010775" y="3697368"/>
            <a:ext cx="5370694" cy="814002"/>
            <a:chOff x="0" y="0"/>
            <a:chExt cx="1414504" cy="214387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29" id="29"/>
          <p:cNvSpPr txBox="true"/>
          <p:nvPr/>
        </p:nvSpPr>
        <p:spPr>
          <a:xfrm rot="0">
            <a:off x="11126495" y="3899738"/>
            <a:ext cx="3267261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Alive-Playe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 Stat</a:t>
            </a:r>
            <a:r>
              <a:rPr lang="en-US" sz="24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e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10010775" y="4816170"/>
            <a:ext cx="5370694" cy="814002"/>
            <a:chOff x="0" y="0"/>
            <a:chExt cx="1414504" cy="214387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11586909" y="5033958"/>
            <a:ext cx="2107729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Round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Sc</a:t>
            </a:r>
            <a:r>
              <a:rPr lang="en-US" sz="24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ore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0010775" y="5966122"/>
            <a:ext cx="5370694" cy="814002"/>
            <a:chOff x="0" y="0"/>
            <a:chExt cx="1414504" cy="214387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37" id="37"/>
          <p:cNvSpPr txBox="true"/>
          <p:nvPr/>
        </p:nvSpPr>
        <p:spPr>
          <a:xfrm rot="0">
            <a:off x="11348047" y="6168335"/>
            <a:ext cx="269615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Clutch Va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riance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2903852" y="7583636"/>
            <a:ext cx="5370694" cy="814002"/>
            <a:chOff x="0" y="0"/>
            <a:chExt cx="1414504" cy="21438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41" id="41"/>
          <p:cNvSpPr txBox="true"/>
          <p:nvPr/>
        </p:nvSpPr>
        <p:spPr>
          <a:xfrm rot="0">
            <a:off x="3056252" y="7785850"/>
            <a:ext cx="4090225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Max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Accuracy: ~56%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9955427" y="7583636"/>
            <a:ext cx="5370694" cy="814002"/>
            <a:chOff x="0" y="0"/>
            <a:chExt cx="1414504" cy="214387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1414504" cy="214387"/>
            </a:xfrm>
            <a:custGeom>
              <a:avLst/>
              <a:gdLst/>
              <a:ahLst/>
              <a:cxnLst/>
              <a:rect r="r" b="b" t="t" l="l"/>
              <a:pathLst>
                <a:path h="214387" w="1414504">
                  <a:moveTo>
                    <a:pt x="0" y="0"/>
                  </a:moveTo>
                  <a:lnTo>
                    <a:pt x="1414504" y="0"/>
                  </a:lnTo>
                  <a:lnTo>
                    <a:pt x="1414504" y="214387"/>
                  </a:lnTo>
                  <a:lnTo>
                    <a:pt x="0" y="214387"/>
                  </a:lnTo>
                  <a:close/>
                </a:path>
              </a:pathLst>
            </a:custGeom>
            <a:solidFill>
              <a:srgbClr val="F4F4F4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4" id="44"/>
            <p:cNvSpPr txBox="true"/>
            <p:nvPr/>
          </p:nvSpPr>
          <p:spPr>
            <a:xfrm>
              <a:off x="0" y="-19050"/>
              <a:ext cx="1414504" cy="233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</a:p>
          </p:txBody>
        </p:sp>
      </p:grpSp>
      <p:sp>
        <p:nvSpPr>
          <p:cNvPr name="TextBox 45" id="45"/>
          <p:cNvSpPr txBox="true"/>
          <p:nvPr/>
        </p:nvSpPr>
        <p:spPr>
          <a:xfrm rot="0">
            <a:off x="10161498" y="7785850"/>
            <a:ext cx="4090225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</a:pP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Max</a:t>
            </a:r>
            <a:r>
              <a:rPr lang="en-US" sz="24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Accuracy: 80%+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09650"/>
            <a:ext cx="3750305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679"/>
              </a:lnSpc>
            </a:pPr>
            <a:r>
              <a:rPr lang="en-US" sz="1399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CONC</a:t>
            </a:r>
            <a:r>
              <a:rPr lang="en-US" sz="1399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2495313" y="3544570"/>
            <a:ext cx="13297374" cy="3159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9"/>
              </a:lnSpc>
            </a:pPr>
            <a:r>
              <a:rPr lang="en-US" b="true" sz="6999" spc="-70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The alg</a:t>
            </a:r>
            <a:r>
              <a:rPr lang="en-US" b="true" sz="6999" spc="-70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orithms do not </a:t>
            </a:r>
          </a:p>
          <a:p>
            <a:pPr algn="ctr">
              <a:lnSpc>
                <a:spcPts val="8119"/>
              </a:lnSpc>
            </a:pPr>
            <a:r>
              <a:rPr lang="en-US" b="true" sz="6999" spc="-706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lack capacity.</a:t>
            </a:r>
          </a:p>
          <a:p>
            <a:pPr algn="l" marL="0" indent="0" lvl="0">
              <a:lnSpc>
                <a:spcPts val="8119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7994505" y="5916660"/>
            <a:ext cx="2298989" cy="3695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33"/>
              </a:lnSpc>
              <a:spcBef>
                <a:spcPct val="0"/>
              </a:spcBef>
            </a:pPr>
            <a:r>
              <a:rPr lang="en-US" sz="2278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 THE DATA DOES.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4F4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593907"/>
            <a:ext cx="16230600" cy="12801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640"/>
              </a:lnSpc>
            </a:pPr>
            <a:r>
              <a:rPr lang="en-US" b="true" sz="9600" spc="-969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 so m</a:t>
            </a:r>
            <a:r>
              <a:rPr lang="en-US" b="true" sz="9600" spc="-969">
                <a:solidFill>
                  <a:srgbClr val="19191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uch!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7268848" y="6109848"/>
            <a:ext cx="3750305" cy="485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600"/>
              </a:lnSpc>
            </a:pPr>
            <a:r>
              <a:rPr lang="en-US" sz="3000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Qu</a:t>
            </a:r>
            <a:r>
              <a:rPr lang="en-US" sz="3000" strike="noStrike" u="none">
                <a:solidFill>
                  <a:srgbClr val="191919"/>
                </a:solidFill>
                <a:latin typeface="Poppins"/>
                <a:ea typeface="Poppins"/>
                <a:cs typeface="Poppins"/>
                <a:sym typeface="Poppins"/>
              </a:rPr>
              <a:t>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DAHK8Heuy6c</dc:identifier>
  <dcterms:modified xsi:type="dcterms:W3CDTF">2011-08-01T06:04:30Z</dcterms:modified>
  <cp:revision>1</cp:revision>
  <dc:title>final-presentation</dc:title>
</cp:coreProperties>
</file>